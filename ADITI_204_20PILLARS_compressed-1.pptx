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75" r:id="rId2"/>
    <p:sldId id="308" r:id="rId3"/>
    <p:sldId id="258" r:id="rId4"/>
    <p:sldId id="259" r:id="rId5"/>
    <p:sldId id="261" r:id="rId6"/>
    <p:sldId id="310" r:id="rId7"/>
    <p:sldId id="262" r:id="rId8"/>
    <p:sldId id="263" r:id="rId9"/>
    <p:sldId id="264" r:id="rId10"/>
    <p:sldId id="265" r:id="rId11"/>
    <p:sldId id="297" r:id="rId12"/>
    <p:sldId id="270" r:id="rId13"/>
    <p:sldId id="296" r:id="rId14"/>
    <p:sldId id="290" r:id="rId15"/>
    <p:sldId id="306" r:id="rId16"/>
    <p:sldId id="309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4133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850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753A44-12AE-1FF9-482A-971AA56066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675" y="0"/>
            <a:ext cx="52006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0157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858669-0061-1539-1FA7-FF47F0C787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446" y="0"/>
            <a:ext cx="113971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627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ED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ptx_assets/about_pane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495" y="0"/>
            <a:ext cx="50292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822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300" dirty="0">
                <a:solidFill>
                  <a:srgbClr val="5D4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DEVELOPER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822960" y="1188720"/>
            <a:ext cx="5760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dirty="0">
                <a:solidFill>
                  <a:srgbClr val="3E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Meraki</a:t>
            </a:r>
            <a:endParaRPr lang="en-US" sz="3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200" dirty="0">
                <a:solidFill>
                  <a:srgbClr val="3E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Developers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822960" y="2697480"/>
            <a:ext cx="5760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n-US" sz="1400" dirty="0">
                <a:solidFill>
                  <a:srgbClr val="6E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Meraki Developers is an award-winning real estate developer with a strong customer focus and meticulous attention to detail. We are committed to building communities that enhance quality of life — designing spaces that integrate natural elements, encourage social interaction, and support overall well-being.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2960" y="4632960"/>
            <a:ext cx="5760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n-US" sz="1400" dirty="0">
                <a:solidFill>
                  <a:srgbClr val="6E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our vertically-integrated development model we consistently deliver high-quality projects on time. With over 100 developments completed — residential towers, commercial buildings, industrial and villa projects — Meraki is known for excellence in design, sustainability, and execution.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22960" y="5532120"/>
            <a:ext cx="1389888" cy="329184"/>
          </a:xfrm>
          <a:prstGeom prst="rect">
            <a:avLst/>
          </a:prstGeom>
          <a:solidFill>
            <a:srgbClr val="E6DF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877824" y="5504688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E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Engineering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322576" y="5532120"/>
            <a:ext cx="1106424" cy="329184"/>
          </a:xfrm>
          <a:prstGeom prst="rect">
            <a:avLst/>
          </a:prstGeom>
          <a:solidFill>
            <a:srgbClr val="E6DF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2322576" y="5532120"/>
            <a:ext cx="1106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E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MEP Contracting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538728" y="5532120"/>
            <a:ext cx="1219810" cy="329184"/>
          </a:xfrm>
          <a:prstGeom prst="rect">
            <a:avLst/>
          </a:prstGeom>
          <a:solidFill>
            <a:srgbClr val="E6DF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3566160" y="5532120"/>
            <a:ext cx="12198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E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Civil Contracting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868266" y="5532120"/>
            <a:ext cx="1276502" cy="329184"/>
          </a:xfrm>
          <a:prstGeom prst="rect">
            <a:avLst/>
          </a:prstGeom>
          <a:solidFill>
            <a:srgbClr val="E6DF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4868266" y="5532120"/>
            <a:ext cx="127650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E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Aluminum &amp; Glazing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22960" y="5952744"/>
            <a:ext cx="1163117" cy="329184"/>
          </a:xfrm>
          <a:prstGeom prst="rect">
            <a:avLst/>
          </a:prstGeom>
          <a:solidFill>
            <a:srgbClr val="E6DF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822960" y="5952744"/>
            <a:ext cx="116311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E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Steel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1277295" y="6355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E61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ED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85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0058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3E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Developers Projects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68680" y="3749040"/>
            <a:ext cx="10454335" cy="0"/>
          </a:xfrm>
          <a:prstGeom prst="line">
            <a:avLst/>
          </a:prstGeom>
          <a:noFill/>
          <a:ln w="25400">
            <a:solidFill>
              <a:srgbClr val="DDD4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 rot="2700000">
            <a:off x="795528" y="3675888"/>
            <a:ext cx="146304" cy="146304"/>
          </a:xfrm>
          <a:prstGeom prst="rect">
            <a:avLst/>
          </a:prstGeom>
          <a:solidFill>
            <a:srgbClr val="DDD4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82880" y="30632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9C8F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2017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0" y="406908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dirty="0">
                <a:solidFill>
                  <a:srgbClr val="6E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Meraki Genesis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 rot="2700000">
            <a:off x="2886395" y="3675888"/>
            <a:ext cx="146304" cy="146304"/>
          </a:xfrm>
          <a:prstGeom prst="rect">
            <a:avLst/>
          </a:prstGeom>
          <a:solidFill>
            <a:srgbClr val="DDD4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273747" y="30632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9C8F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090867" y="406908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000" dirty="0">
                <a:solidFill>
                  <a:srgbClr val="6E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Haven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 rot="2700000">
            <a:off x="4977262" y="3675888"/>
            <a:ext cx="146304" cy="146304"/>
          </a:xfrm>
          <a:prstGeom prst="rect">
            <a:avLst/>
          </a:prstGeom>
          <a:solidFill>
            <a:srgbClr val="DDD4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64614" y="30632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9C8F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2024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181734" y="406908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000" dirty="0">
                <a:solidFill>
                  <a:srgbClr val="6E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Haven II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 rot="2700000">
            <a:off x="7068129" y="3675888"/>
            <a:ext cx="146304" cy="146304"/>
          </a:xfrm>
          <a:prstGeom prst="rect">
            <a:avLst/>
          </a:prstGeom>
          <a:solidFill>
            <a:srgbClr val="DDD4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55481" y="30632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9C8F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2025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272601" y="406908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000" dirty="0">
                <a:solidFill>
                  <a:srgbClr val="6E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Haven III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 rot="2700000">
            <a:off x="9122420" y="3639312"/>
            <a:ext cx="219456" cy="219456"/>
          </a:xfrm>
          <a:prstGeom prst="rect">
            <a:avLst/>
          </a:prstGeom>
          <a:solidFill>
            <a:srgbClr val="5D48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546348" y="30632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E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363468" y="406908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3E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Nirvana Residences I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 rot="2700000">
            <a:off x="11249863" y="3675888"/>
            <a:ext cx="146304" cy="146304"/>
          </a:xfrm>
          <a:prstGeom prst="rect">
            <a:avLst/>
          </a:prstGeom>
          <a:solidFill>
            <a:srgbClr val="DDD4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637215" y="30632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9C8F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0454335" y="406908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000" dirty="0">
                <a:solidFill>
                  <a:srgbClr val="6E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(More to Follow</a:t>
            </a:r>
            <a:r>
              <a:rPr lang="en-US" dirty="0">
                <a:solidFill>
                  <a:srgbClr val="6E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1277295" y="6355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E61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ED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ptx_assets/harmony_pane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0292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532120" y="822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300" dirty="0">
                <a:solidFill>
                  <a:srgbClr val="5D4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NIRVANA RESIDENCES I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532120" y="1188720"/>
            <a:ext cx="583661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dirty="0">
                <a:solidFill>
                  <a:srgbClr val="3E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Come Home</a:t>
            </a:r>
            <a:endParaRPr lang="en-US" sz="3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200" dirty="0">
                <a:solidFill>
                  <a:srgbClr val="3E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Harmony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532120" y="2697480"/>
            <a:ext cx="583661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4000"/>
              </a:lnSpc>
              <a:buNone/>
            </a:pPr>
            <a:r>
              <a:rPr lang="en-US" sz="1600" dirty="0">
                <a:solidFill>
                  <a:srgbClr val="6E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Harmony is a word often used and rarely experienced. It is the quiet confidence born of balance — when competing yet desirable qualities no longer pull against each other but settle into place. Your home. Your time. Your life.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532120" y="4160520"/>
            <a:ext cx="583661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4000"/>
              </a:lnSpc>
              <a:buNone/>
            </a:pPr>
            <a:r>
              <a:rPr lang="en-US" sz="1600" dirty="0">
                <a:solidFill>
                  <a:srgbClr val="6E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Nirvana Residences I is built on this belief. A 22-storey residential tower in Me’aisem, it offers 392 residences — studios, one-, two-, and three-bedroom homes — each designed with the understanding that a home should support life, not compete with it.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532120" y="5989320"/>
            <a:ext cx="5836615" cy="18288"/>
          </a:xfrm>
          <a:prstGeom prst="rect">
            <a:avLst/>
          </a:prstGeom>
          <a:solidFill>
            <a:srgbClr val="DDD4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532120" y="612648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D4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392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0" y="6144768"/>
            <a:ext cx="46021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E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Residences across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E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storeys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1277295" y="6355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E61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EF7B70-5D34-A795-564B-3179CB93C5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86" y="0"/>
            <a:ext cx="119816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336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ED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ptx_assets/overview_pane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495" y="0"/>
            <a:ext cx="50292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685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300" dirty="0">
                <a:solidFill>
                  <a:srgbClr val="5D4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OVERVIEW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822960" y="1005840"/>
            <a:ext cx="5760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822960" y="2514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754380" y="2534075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D4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52,085.92 sqft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54380" y="2946047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150" dirty="0">
                <a:solidFill>
                  <a:srgbClr val="6E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DESCRIPTION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81812" y="3403247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3E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Basements + Ground + 2 Podiums + 19 Floors + Rooftop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54380" y="42895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150" dirty="0">
                <a:solidFill>
                  <a:srgbClr val="6E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RESIDENTIAL UNIT MIX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822960" y="4663440"/>
            <a:ext cx="1303020" cy="1051560"/>
          </a:xfrm>
          <a:prstGeom prst="rect">
            <a:avLst/>
          </a:prstGeom>
          <a:solidFill>
            <a:srgbClr val="E6DF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822960" y="4754880"/>
            <a:ext cx="13030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D4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127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937260" y="5303520"/>
            <a:ext cx="12115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dirty="0">
                <a:solidFill>
                  <a:srgbClr val="6E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Apartments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2308860" y="4663440"/>
            <a:ext cx="1303020" cy="1051560"/>
          </a:xfrm>
          <a:prstGeom prst="rect">
            <a:avLst/>
          </a:prstGeom>
          <a:solidFill>
            <a:srgbClr val="E6DF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2308860" y="4754880"/>
            <a:ext cx="13030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D4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178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2354580" y="5257800"/>
            <a:ext cx="12115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dirty="0">
                <a:solidFill>
                  <a:srgbClr val="6E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One-Bedroom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3794760" y="4663440"/>
            <a:ext cx="1303020" cy="1051560"/>
          </a:xfrm>
          <a:prstGeom prst="rect">
            <a:avLst/>
          </a:prstGeom>
          <a:solidFill>
            <a:srgbClr val="E6DF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3794760" y="4754880"/>
            <a:ext cx="13030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D4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3840480" y="5257800"/>
            <a:ext cx="12115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dirty="0">
                <a:solidFill>
                  <a:srgbClr val="6E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Two-Bedroom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280660" y="4663440"/>
            <a:ext cx="1303020" cy="1051560"/>
          </a:xfrm>
          <a:prstGeom prst="rect">
            <a:avLst/>
          </a:prstGeom>
          <a:solidFill>
            <a:srgbClr val="E6DF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5280660" y="4754880"/>
            <a:ext cx="13030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D4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8"/>
          <p:cNvSpPr txBox="1"/>
          <p:nvPr/>
        </p:nvSpPr>
        <p:spPr>
          <a:xfrm>
            <a:off x="5326380" y="5257800"/>
            <a:ext cx="12115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dirty="0">
                <a:solidFill>
                  <a:srgbClr val="6E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Three-Bedroom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1277295" y="6355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E61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9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56D485-9C55-3CE5-22C6-07DE99AD5D64}"/>
              </a:ext>
            </a:extLst>
          </p:cNvPr>
          <p:cNvSpPr txBox="1"/>
          <p:nvPr/>
        </p:nvSpPr>
        <p:spPr>
          <a:xfrm>
            <a:off x="754380" y="1234440"/>
            <a:ext cx="3735324" cy="881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500" dirty="0">
                <a:solidFill>
                  <a:srgbClr val="3E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Development</a:t>
            </a:r>
            <a:endParaRPr lang="en-US" sz="2500" dirty="0"/>
          </a:p>
          <a:p>
            <a:pPr>
              <a:lnSpc>
                <a:spcPct val="105000"/>
              </a:lnSpc>
            </a:pPr>
            <a:r>
              <a:rPr lang="en-US" sz="2500" dirty="0">
                <a:solidFill>
                  <a:srgbClr val="3E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a Glance</a:t>
            </a:r>
            <a:endParaRPr lang="en-US" sz="25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98C52BD-21CC-E388-90A2-081A94FC0202}"/>
              </a:ext>
            </a:extLst>
          </p:cNvPr>
          <p:cNvSpPr txBox="1"/>
          <p:nvPr/>
        </p:nvSpPr>
        <p:spPr>
          <a:xfrm>
            <a:off x="2578608" y="267004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BD04C79-DA11-5F6E-F980-B368A934C2FD}"/>
              </a:ext>
            </a:extLst>
          </p:cNvPr>
          <p:cNvSpPr txBox="1"/>
          <p:nvPr/>
        </p:nvSpPr>
        <p:spPr>
          <a:xfrm>
            <a:off x="754380" y="2212848"/>
            <a:ext cx="21808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kern="0" spc="150" dirty="0">
                <a:solidFill>
                  <a:srgbClr val="6E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AREA</a:t>
            </a:r>
            <a:endParaRPr lang="en-US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ED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ptx_assets/location_fu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5" y="33020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345440"/>
            <a:ext cx="10546080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kern="0" spc="300" dirty="0">
                <a:solidFill>
                  <a:srgbClr val="5D4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                        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CLOSE TO THE PULSE. CLOSER STILL TO THE CALM. </a:t>
            </a:r>
          </a:p>
          <a:p>
            <a:pPr marL="0" indent="0">
              <a:buNone/>
            </a:pP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822960" y="762000"/>
            <a:ext cx="4754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dirty="0">
                <a:solidFill>
                  <a:srgbClr val="3E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Connected to</a:t>
            </a:r>
            <a:endParaRPr lang="en-US" sz="2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2800" dirty="0">
                <a:solidFill>
                  <a:srgbClr val="3E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Everything.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822960" y="23317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D4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Removed From the Ordinary.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3688080"/>
            <a:ext cx="4572000" cy="106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400" dirty="0">
              <a:solidFill>
                <a:schemeClr val="accent2">
                  <a:lumMod val="75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400" dirty="0">
              <a:solidFill>
                <a:schemeClr val="accent2">
                  <a:lumMod val="75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400" dirty="0">
              <a:solidFill>
                <a:schemeClr val="accent2">
                  <a:lumMod val="75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400" dirty="0">
              <a:solidFill>
                <a:schemeClr val="accent2">
                  <a:lumMod val="75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400" dirty="0">
              <a:solidFill>
                <a:schemeClr val="accent2">
                  <a:lumMod val="75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400" dirty="0">
              <a:solidFill>
                <a:schemeClr val="accent2">
                  <a:lumMod val="75000"/>
                </a:schemeClr>
              </a:solidFill>
            </a:endParaRPr>
          </a:p>
          <a:p>
            <a:endParaRPr lang="en-US" sz="1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11277295" y="6355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E61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51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85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300" dirty="0">
                <a:solidFill>
                  <a:srgbClr val="9C8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100584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dirty="0">
                <a:solidFill>
                  <a:srgbClr val="F5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Minutes Away</a:t>
            </a:r>
            <a:endParaRPr lang="en-US" sz="2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2800" dirty="0">
                <a:solidFill>
                  <a:srgbClr val="F5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It All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2606040"/>
            <a:ext cx="3332378" cy="1691640"/>
          </a:xfrm>
          <a:prstGeom prst="rect">
            <a:avLst/>
          </a:prstGeom>
          <a:solidFill>
            <a:srgbClr val="1E1712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51560" y="2770632"/>
            <a:ext cx="28751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5D4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1078992" y="3447288"/>
            <a:ext cx="28751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kern="0" spc="150" dirty="0">
                <a:solidFill>
                  <a:srgbClr val="9C8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MINS FROM</a:t>
            </a:r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3776472"/>
            <a:ext cx="2875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Dubai International Airport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30242" y="2667000"/>
            <a:ext cx="3332378" cy="1691640"/>
          </a:xfrm>
          <a:prstGeom prst="rect">
            <a:avLst/>
          </a:prstGeom>
          <a:solidFill>
            <a:srgbClr val="1E1712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658258" y="2770632"/>
            <a:ext cx="28751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5D4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4685690" y="3447288"/>
            <a:ext cx="28751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kern="0" spc="150" dirty="0">
                <a:solidFill>
                  <a:srgbClr val="9C8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MINS FROM</a:t>
            </a:r>
            <a:endParaRPr lang="en-US" dirty="0"/>
          </a:p>
        </p:txBody>
      </p:sp>
      <p:sp>
        <p:nvSpPr>
          <p:cNvPr id="11" name="Text 9"/>
          <p:cNvSpPr txBox="1"/>
          <p:nvPr/>
        </p:nvSpPr>
        <p:spPr>
          <a:xfrm>
            <a:off x="4658258" y="3776472"/>
            <a:ext cx="2875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Dubai World Central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036357" y="2606040"/>
            <a:ext cx="3332378" cy="1691640"/>
          </a:xfrm>
          <a:prstGeom prst="rect">
            <a:avLst/>
          </a:prstGeom>
          <a:solidFill>
            <a:srgbClr val="1E1712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8264957" y="2770632"/>
            <a:ext cx="28751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5D4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8292389" y="3447288"/>
            <a:ext cx="28751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kern="0" spc="150" dirty="0">
                <a:solidFill>
                  <a:srgbClr val="9C8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MINS FROM</a:t>
            </a:r>
            <a:endParaRPr lang="en-US" dirty="0"/>
          </a:p>
        </p:txBody>
      </p:sp>
      <p:sp>
        <p:nvSpPr>
          <p:cNvPr id="15" name="Text 13"/>
          <p:cNvSpPr txBox="1"/>
          <p:nvPr/>
        </p:nvSpPr>
        <p:spPr>
          <a:xfrm>
            <a:off x="7990636" y="3776472"/>
            <a:ext cx="31494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Dubai Hills Mall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22960" y="4572000"/>
            <a:ext cx="3332378" cy="1691640"/>
          </a:xfrm>
          <a:prstGeom prst="rect">
            <a:avLst/>
          </a:prstGeom>
          <a:solidFill>
            <a:srgbClr val="1E1712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1051560" y="4736592"/>
            <a:ext cx="28751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5D4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1078992" y="5413248"/>
            <a:ext cx="28751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kern="0" spc="150" dirty="0">
                <a:solidFill>
                  <a:srgbClr val="9C8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MINS FROM</a:t>
            </a:r>
            <a:endParaRPr lang="en-US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5742432"/>
            <a:ext cx="2875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Palm Jumeirah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4429658" y="4572000"/>
            <a:ext cx="3332378" cy="1691640"/>
          </a:xfrm>
          <a:prstGeom prst="rect">
            <a:avLst/>
          </a:prstGeom>
          <a:solidFill>
            <a:srgbClr val="1E1712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4658258" y="4736592"/>
            <a:ext cx="28751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5D4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3400" dirty="0"/>
          </a:p>
        </p:txBody>
      </p:sp>
      <p:sp>
        <p:nvSpPr>
          <p:cNvPr id="22" name="Text 20"/>
          <p:cNvSpPr txBox="1"/>
          <p:nvPr/>
        </p:nvSpPr>
        <p:spPr>
          <a:xfrm>
            <a:off x="4685690" y="5413248"/>
            <a:ext cx="28751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kern="0" spc="150" dirty="0">
                <a:solidFill>
                  <a:srgbClr val="9C8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MINS FROM</a:t>
            </a:r>
            <a:endParaRPr lang="en-US" dirty="0"/>
          </a:p>
        </p:txBody>
      </p:sp>
      <p:sp>
        <p:nvSpPr>
          <p:cNvPr id="23" name="Text 21"/>
          <p:cNvSpPr txBox="1"/>
          <p:nvPr/>
        </p:nvSpPr>
        <p:spPr>
          <a:xfrm>
            <a:off x="4658258" y="5742432"/>
            <a:ext cx="2875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Burj Al Arab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8036357" y="4572000"/>
            <a:ext cx="3332378" cy="1691640"/>
          </a:xfrm>
          <a:prstGeom prst="rect">
            <a:avLst/>
          </a:prstGeom>
          <a:solidFill>
            <a:srgbClr val="1E1712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8264957" y="4736592"/>
            <a:ext cx="28751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5D4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3400" dirty="0"/>
          </a:p>
        </p:txBody>
      </p:sp>
      <p:sp>
        <p:nvSpPr>
          <p:cNvPr id="26" name="Text 24"/>
          <p:cNvSpPr txBox="1"/>
          <p:nvPr/>
        </p:nvSpPr>
        <p:spPr>
          <a:xfrm>
            <a:off x="8219339" y="5422392"/>
            <a:ext cx="28751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kern="0" spc="150" dirty="0">
                <a:solidFill>
                  <a:srgbClr val="9C8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MINS FROM</a:t>
            </a:r>
            <a:endParaRPr lang="en-US" dirty="0"/>
          </a:p>
        </p:txBody>
      </p:sp>
      <p:sp>
        <p:nvSpPr>
          <p:cNvPr id="27" name="Text 25"/>
          <p:cNvSpPr txBox="1"/>
          <p:nvPr/>
        </p:nvSpPr>
        <p:spPr>
          <a:xfrm>
            <a:off x="8264957" y="5742432"/>
            <a:ext cx="2875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E11 / Sheikh Zayed Road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1277295" y="6355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9C8F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ED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ptx_assets/neighborhood_pane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495" y="0"/>
            <a:ext cx="50292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822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300" dirty="0">
                <a:solidFill>
                  <a:srgbClr val="5D4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NEIGHBORHOOD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822960" y="1188720"/>
            <a:ext cx="5760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3E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 in</a:t>
            </a:r>
            <a:endParaRPr lang="en-US" sz="3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3E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Essentials.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822960" y="237744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D4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Elevated by Experiences.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22960" y="2852928"/>
            <a:ext cx="5760720" cy="1901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4000"/>
              </a:lnSpc>
              <a:buNone/>
            </a:pPr>
            <a:r>
              <a:rPr lang="en-US" sz="1600" dirty="0">
                <a:solidFill>
                  <a:srgbClr val="6E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Me’aisem is a community that offers what daily life requires — and what makes it richer. A direct connection to Al Fay Road ensures effortless movement to the rest of Dubai. Within walking distance, City Centre Me’aisem anchors daily life — groceries, cafés, cinema, salons, pharmacy — while Mediclinic Me’aisem covers everyday healthcare.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50749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D4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559612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kern="0" spc="50" dirty="0">
                <a:solidFill>
                  <a:srgbClr val="6E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MINS  ·  CITY CENTRE ME'AISEM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2807208" y="50749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D4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2807208" y="559612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kern="0" spc="50" dirty="0">
                <a:solidFill>
                  <a:srgbClr val="6E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MINS  ·  2 LAKES + JOGGING TRACK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4791456" y="50749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D4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4816856" y="55778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kern="0" spc="50" dirty="0">
                <a:solidFill>
                  <a:srgbClr val="6E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MINS  ·  10 PREMIUM SCHOOLS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1277295" y="6355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E61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62B35E-3A18-B6D7-B523-41BA398C7A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848" y="0"/>
            <a:ext cx="102803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2376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ED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ptx_assets/design_pane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0292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532120" y="822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300" dirty="0">
                <a:solidFill>
                  <a:srgbClr val="5D4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INTERIORS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5532120" y="1188720"/>
            <a:ext cx="583661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2400" dirty="0">
                <a:solidFill>
                  <a:srgbClr val="3E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Thoughtful Design.</a:t>
            </a:r>
            <a:endParaRPr lang="en-US" sz="24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2400" dirty="0">
                <a:solidFill>
                  <a:srgbClr val="3E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Holistic Living.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532120" y="2560320"/>
            <a:ext cx="583661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4000"/>
              </a:lnSpc>
              <a:buNone/>
            </a:pPr>
            <a:r>
              <a:rPr lang="en-US" dirty="0">
                <a:solidFill>
                  <a:srgbClr val="6E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Nirvana Residences I, every residence is shaped by three principles: continuity, tactile depth, and composure. Spaces flow with a seamless rhythm — each room connected to the next in one coherent experience.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532120" y="3977640"/>
            <a:ext cx="583661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4000"/>
              </a:lnSpc>
              <a:buNone/>
            </a:pPr>
            <a:r>
              <a:rPr lang="en-US" dirty="0">
                <a:solidFill>
                  <a:srgbClr val="6E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are chosen for their honesty, their texture, their interplay of light and shadow. Finishes carry the signature attention to detail that Meraki Developers is known for — precision that you feel before you notice.</a:t>
            </a: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5532120" y="5623560"/>
            <a:ext cx="1280160" cy="384048"/>
          </a:xfrm>
          <a:prstGeom prst="rect">
            <a:avLst/>
          </a:prstGeom>
          <a:solidFill>
            <a:srgbClr val="E6DF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5532120" y="56235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kern="0" spc="50" dirty="0">
                <a:solidFill>
                  <a:srgbClr val="3E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CONTINUITY</a:t>
            </a: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6949440" y="5623560"/>
            <a:ext cx="1527048" cy="384048"/>
          </a:xfrm>
          <a:prstGeom prst="rect">
            <a:avLst/>
          </a:prstGeom>
          <a:solidFill>
            <a:srgbClr val="E6DF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6949440" y="5623560"/>
            <a:ext cx="1527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kern="0" spc="50" dirty="0">
                <a:solidFill>
                  <a:srgbClr val="3E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TACTILE DEPTH</a:t>
            </a: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8613648" y="5623560"/>
            <a:ext cx="1197864" cy="384048"/>
          </a:xfrm>
          <a:prstGeom prst="rect">
            <a:avLst/>
          </a:prstGeom>
          <a:solidFill>
            <a:srgbClr val="E6DF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8613648" y="5623560"/>
            <a:ext cx="1197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50" dirty="0">
                <a:solidFill>
                  <a:srgbClr val="3E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COMPOSURE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1277295" y="6355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E61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BDA4C3-BD16-E6FD-188D-16E279BEB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182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16F3B-4465-9533-7D83-54AD7A6BF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457915-E455-0585-4B00-912F6FB3DB89}"/>
              </a:ext>
            </a:extLst>
          </p:cNvPr>
          <p:cNvSpPr txBox="1"/>
          <p:nvPr/>
        </p:nvSpPr>
        <p:spPr>
          <a:xfrm>
            <a:off x="594360" y="384048"/>
            <a:ext cx="2872133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334"/>
                </a:solidFill>
              </a:defRPr>
            </a:pPr>
            <a:r>
              <a:rPr dirty="0"/>
              <a:t> </a:t>
            </a:r>
            <a:r>
              <a:rPr lang="en-US" i="1" u="sng" dirty="0"/>
              <a:t>CONFIGURATIONS</a:t>
            </a:r>
            <a:endParaRPr sz="3200" i="1" u="sng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54DF557-BEA5-E691-7939-69C7B1E325AA}"/>
              </a:ext>
            </a:extLst>
          </p:cNvPr>
          <p:cNvSpPr/>
          <p:nvPr/>
        </p:nvSpPr>
        <p:spPr>
          <a:xfrm>
            <a:off x="685800" y="1600200"/>
            <a:ext cx="3383280" cy="3200400"/>
          </a:xfrm>
          <a:prstGeom prst="roundRect">
            <a:avLst/>
          </a:prstGeom>
          <a:solidFill>
            <a:srgbClr val="F6F6F3"/>
          </a:solidFill>
          <a:ln>
            <a:solidFill>
              <a:srgbClr val="DC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C3873D-0548-3335-578F-FDF55EA07D7D}"/>
              </a:ext>
            </a:extLst>
          </p:cNvPr>
          <p:cNvSpPr txBox="1"/>
          <p:nvPr/>
        </p:nvSpPr>
        <p:spPr>
          <a:xfrm>
            <a:off x="914400" y="1874519"/>
            <a:ext cx="292608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  <a:defRPr sz="1700" b="1">
                <a:solidFill>
                  <a:srgbClr val="182334"/>
                </a:solidFill>
              </a:defRPr>
            </a:pPr>
            <a:r>
              <a:t>STUDIO</a:t>
            </a:r>
          </a:p>
          <a:p>
            <a:pPr algn="ctr">
              <a:spcAft>
                <a:spcPts val="1000"/>
              </a:spcAft>
              <a:defRPr sz="1600" b="1">
                <a:solidFill>
                  <a:srgbClr val="182334"/>
                </a:solidFill>
              </a:defRPr>
            </a:pPr>
            <a:r>
              <a:t>~AED 781K | ~A$297K</a:t>
            </a:r>
          </a:p>
          <a:p>
            <a:pPr algn="ctr">
              <a:spcAft>
                <a:spcPts val="1000"/>
              </a:spcAft>
              <a:defRPr sz="1600" b="0">
                <a:solidFill>
                  <a:srgbClr val="182334"/>
                </a:solidFill>
              </a:defRPr>
            </a:pPr>
            <a:r>
              <a:t>~447 sq ft</a:t>
            </a:r>
          </a:p>
          <a:p>
            <a:pPr algn="ctr">
              <a:spcAft>
                <a:spcPts val="1000"/>
              </a:spcAft>
              <a:defRPr sz="1600" b="0">
                <a:solidFill>
                  <a:srgbClr val="182334"/>
                </a:solidFill>
              </a:defRPr>
            </a:pPr>
            <a:r>
              <a:t>Pool view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280A048-BA5B-1CD5-D15A-67A1726BE2F9}"/>
              </a:ext>
            </a:extLst>
          </p:cNvPr>
          <p:cNvSpPr/>
          <p:nvPr/>
        </p:nvSpPr>
        <p:spPr>
          <a:xfrm>
            <a:off x="4480560" y="1600200"/>
            <a:ext cx="3383280" cy="3200400"/>
          </a:xfrm>
          <a:prstGeom prst="roundRect">
            <a:avLst/>
          </a:prstGeom>
          <a:solidFill>
            <a:srgbClr val="F6F6F3"/>
          </a:solidFill>
          <a:ln>
            <a:solidFill>
              <a:srgbClr val="DC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2E12A7-1237-0278-CD19-2A807F5C5557}"/>
              </a:ext>
            </a:extLst>
          </p:cNvPr>
          <p:cNvSpPr txBox="1"/>
          <p:nvPr/>
        </p:nvSpPr>
        <p:spPr>
          <a:xfrm>
            <a:off x="4709160" y="1874519"/>
            <a:ext cx="292608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  <a:defRPr sz="1700" b="1">
                <a:solidFill>
                  <a:srgbClr val="182334"/>
                </a:solidFill>
              </a:defRPr>
            </a:pPr>
            <a:r>
              <a:t>1 BEDROOM</a:t>
            </a:r>
          </a:p>
          <a:p>
            <a:pPr algn="ctr">
              <a:spcAft>
                <a:spcPts val="1000"/>
              </a:spcAft>
              <a:defRPr sz="1600" b="1">
                <a:solidFill>
                  <a:srgbClr val="182334"/>
                </a:solidFill>
              </a:defRPr>
            </a:pPr>
            <a:r>
              <a:t>~AED 1.23M+ | ~A$468K+</a:t>
            </a:r>
          </a:p>
          <a:p>
            <a:pPr algn="ctr">
              <a:spcAft>
                <a:spcPts val="1000"/>
              </a:spcAft>
              <a:defRPr sz="1600" b="0">
                <a:solidFill>
                  <a:srgbClr val="182334"/>
                </a:solidFill>
              </a:defRPr>
            </a:pPr>
            <a:r>
              <a:t>~747 sq ft+</a:t>
            </a:r>
          </a:p>
          <a:p>
            <a:pPr algn="ctr">
              <a:spcAft>
                <a:spcPts val="1000"/>
              </a:spcAft>
              <a:defRPr sz="1600" b="0">
                <a:solidFill>
                  <a:srgbClr val="182334"/>
                </a:solidFill>
              </a:defRPr>
            </a:pPr>
            <a:r>
              <a:t>Various views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1FD6262-FAE2-5C01-D881-D4A909BF0FE9}"/>
              </a:ext>
            </a:extLst>
          </p:cNvPr>
          <p:cNvSpPr/>
          <p:nvPr/>
        </p:nvSpPr>
        <p:spPr>
          <a:xfrm>
            <a:off x="8275320" y="1600200"/>
            <a:ext cx="3383280" cy="3200400"/>
          </a:xfrm>
          <a:prstGeom prst="roundRect">
            <a:avLst/>
          </a:prstGeom>
          <a:solidFill>
            <a:srgbClr val="F6F6F3"/>
          </a:solidFill>
          <a:ln>
            <a:solidFill>
              <a:srgbClr val="DC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FD1F0F-DA20-41EE-B19E-6650F986C6A3}"/>
              </a:ext>
            </a:extLst>
          </p:cNvPr>
          <p:cNvSpPr txBox="1"/>
          <p:nvPr/>
        </p:nvSpPr>
        <p:spPr>
          <a:xfrm>
            <a:off x="8503920" y="1874519"/>
            <a:ext cx="292608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  <a:defRPr sz="1700" b="1">
                <a:solidFill>
                  <a:srgbClr val="182334"/>
                </a:solidFill>
              </a:defRPr>
            </a:pPr>
            <a:r>
              <a:t>2 BEDROOM</a:t>
            </a:r>
          </a:p>
          <a:p>
            <a:pPr algn="ctr">
              <a:spcAft>
                <a:spcPts val="1000"/>
              </a:spcAft>
              <a:defRPr sz="1600" b="1">
                <a:solidFill>
                  <a:srgbClr val="182334"/>
                </a:solidFill>
              </a:defRPr>
            </a:pPr>
            <a:r>
              <a:t>~AED 1.80M+ | ~A$684K+</a:t>
            </a:r>
          </a:p>
          <a:p>
            <a:pPr algn="ctr">
              <a:spcAft>
                <a:spcPts val="1000"/>
              </a:spcAft>
              <a:defRPr sz="1600" b="0">
                <a:solidFill>
                  <a:srgbClr val="182334"/>
                </a:solidFill>
              </a:defRPr>
            </a:pPr>
            <a:r>
              <a:t>~1,243 sq ft+</a:t>
            </a:r>
          </a:p>
          <a:p>
            <a:pPr algn="ctr">
              <a:spcAft>
                <a:spcPts val="1000"/>
              </a:spcAft>
              <a:defRPr sz="1600" b="0">
                <a:solidFill>
                  <a:srgbClr val="182334"/>
                </a:solidFill>
              </a:defRPr>
            </a:pPr>
            <a:r>
              <a:t>City / pool / other views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A3D7C5-48C5-F129-81F3-6A6227827DA1}"/>
              </a:ext>
            </a:extLst>
          </p:cNvPr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B08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9EBA9B-1597-BB79-5042-70D69F77B9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8571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38A896-9222-F8D4-58D3-6D86850D1B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1448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44E59F-6D53-C000-C83F-7EA17C69EA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3"/>
            <a:ext cx="12192000" cy="6854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5172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707</TotalTime>
  <Words>593</Words>
  <Application>Microsoft Office PowerPoint</Application>
  <PresentationFormat>Widescreen</PresentationFormat>
  <Paragraphs>125</Paragraphs>
  <Slides>16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Akshay Dhumal</cp:lastModifiedBy>
  <cp:revision>20</cp:revision>
  <dcterms:created xsi:type="dcterms:W3CDTF">2026-09-08T11:29:32Z</dcterms:created>
  <dcterms:modified xsi:type="dcterms:W3CDTF">2026-09-12T08:16:02Z</dcterms:modified>
</cp:coreProperties>
</file>