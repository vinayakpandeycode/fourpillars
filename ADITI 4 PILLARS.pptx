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5" r:id="rId2"/>
    <p:sldId id="308" r:id="rId3"/>
    <p:sldId id="258" r:id="rId4"/>
    <p:sldId id="259" r:id="rId5"/>
    <p:sldId id="261" r:id="rId6"/>
    <p:sldId id="310" r:id="rId7"/>
    <p:sldId id="262" r:id="rId8"/>
    <p:sldId id="263" r:id="rId9"/>
    <p:sldId id="264" r:id="rId10"/>
    <p:sldId id="265" r:id="rId11"/>
    <p:sldId id="297" r:id="rId12"/>
    <p:sldId id="270" r:id="rId13"/>
    <p:sldId id="296" r:id="rId14"/>
    <p:sldId id="290" r:id="rId15"/>
    <p:sldId id="306" r:id="rId16"/>
    <p:sldId id="30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133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50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753A44-12AE-1FF9-482A-971AA5606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75" y="0"/>
            <a:ext cx="5200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1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58669-0061-1539-1FA7-FF47F0C78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46" y="0"/>
            <a:ext cx="113971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2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about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22960" y="118872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Meraki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26974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Meraki Developers is an award-winning real estate developer with a strong customer focus and meticulous attention to detail. We are committed to building communities that enhance quality of life — designing spaces that integrate natural elements, encourage social interaction, and support overall well-being.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632960"/>
            <a:ext cx="5760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our vertically-integrated development model we consistently deliver high-quality projects on time. With over 100 developments completed — residential towers, commercial buildings, industrial and villa projects — Meraki is known for excellence in design, sustainability, and execution.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5532120"/>
            <a:ext cx="1389888" cy="329184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77824" y="550468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Engineering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22576" y="5532120"/>
            <a:ext cx="1106424" cy="329184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322576" y="5532120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 Contracting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38728" y="5532120"/>
            <a:ext cx="1219810" cy="329184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566160" y="5532120"/>
            <a:ext cx="1219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Contracting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68266" y="5532120"/>
            <a:ext cx="1276502" cy="329184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868266" y="5532120"/>
            <a:ext cx="1276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&amp; Glazing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5952744"/>
            <a:ext cx="1163117" cy="329184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5952744"/>
            <a:ext cx="116311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Steel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 Projects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3749040"/>
            <a:ext cx="10454335" cy="0"/>
          </a:xfrm>
          <a:prstGeom prst="line">
            <a:avLst/>
          </a:prstGeom>
          <a:noFill/>
          <a:ln w="25400">
            <a:solidFill>
              <a:srgbClr val="DDD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2700000">
            <a:off x="795528" y="3675888"/>
            <a:ext cx="146304" cy="146304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Meraki Genesis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 rot="2700000">
            <a:off x="2886395" y="3675888"/>
            <a:ext cx="146304" cy="146304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73747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90867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Haven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 rot="2700000">
            <a:off x="4977262" y="3675888"/>
            <a:ext cx="146304" cy="146304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64614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81734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Haven II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 rot="2700000">
            <a:off x="7068129" y="3675888"/>
            <a:ext cx="146304" cy="146304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5481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72601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Haven III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 rot="2700000">
            <a:off x="9122420" y="3639312"/>
            <a:ext cx="219456" cy="219456"/>
          </a:xfrm>
          <a:prstGeom prst="rect">
            <a:avLst/>
          </a:prstGeom>
          <a:solidFill>
            <a:srgbClr val="5D4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46348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63468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Nirvana Residences I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 rot="2700000">
            <a:off x="11249863" y="3675888"/>
            <a:ext cx="146304" cy="146304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37215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454335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(More to Follow</a:t>
            </a:r>
            <a:r>
              <a:rPr lang="en-US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harmony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53212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NIRVANA RESIDENCES I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532120" y="1188720"/>
            <a:ext cx="58366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Home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Harmony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532120" y="2697480"/>
            <a:ext cx="583661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 is a word often used and rarely experienced. It is the quiet confidence born of balance — when competing yet desirable qualities no longer pull against each other but settle into place. Your home. Your time. Your life.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532120" y="4160520"/>
            <a:ext cx="583661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Nirvana Residences I is built on this belief. A 22-storey residential tower in Me’aisem, it offers 392 residences — studios, one-, two-, and three-bedroom homes — each designed with the understanding that a home should support life, not compete with 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32120" y="5989320"/>
            <a:ext cx="5836615" cy="18288"/>
          </a:xfrm>
          <a:prstGeom prst="rect">
            <a:avLst/>
          </a:prstGeom>
          <a:solidFill>
            <a:srgbClr val="DD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532120" y="6126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0" y="6144768"/>
            <a:ext cx="4602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Residences across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storeys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EF7B70-5D34-A795-564B-3179CB93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6" y="0"/>
            <a:ext cx="11981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36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overview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OVERVIEW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54380" y="2534075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52,085.92 sqft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54380" y="2946047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DESCRIPTION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81812" y="3403247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Basements + Ground + 2 Podiums + 19 Floors + Rooftop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4380" y="4289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UNIT MIX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22960" y="4663440"/>
            <a:ext cx="1303020" cy="1051560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22960" y="4754880"/>
            <a:ext cx="1303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37260" y="5303520"/>
            <a:ext cx="1211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Apartments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308860" y="4663440"/>
            <a:ext cx="1303020" cy="1051560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308860" y="4754880"/>
            <a:ext cx="1303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2354580" y="5257800"/>
            <a:ext cx="1211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One-Bedroom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794760" y="4663440"/>
            <a:ext cx="1303020" cy="1051560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794760" y="4754880"/>
            <a:ext cx="1303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5257800"/>
            <a:ext cx="1211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Two-Bedroom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80660" y="4663440"/>
            <a:ext cx="1303020" cy="1051560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280660" y="4754880"/>
            <a:ext cx="1303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5326380" y="5257800"/>
            <a:ext cx="1211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Three-Bedroom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56D485-9C55-3CE5-22C6-07DE99AD5D64}"/>
              </a:ext>
            </a:extLst>
          </p:cNvPr>
          <p:cNvSpPr txBox="1"/>
          <p:nvPr/>
        </p:nvSpPr>
        <p:spPr>
          <a:xfrm>
            <a:off x="754380" y="1234440"/>
            <a:ext cx="3735324" cy="88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5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Development</a:t>
            </a:r>
            <a:endParaRPr lang="en-US" sz="2500" dirty="0"/>
          </a:p>
          <a:p>
            <a:pPr>
              <a:lnSpc>
                <a:spcPct val="105000"/>
              </a:lnSpc>
            </a:pPr>
            <a:r>
              <a:rPr lang="en-US" sz="25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2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8C52BD-21CC-E388-90A2-081A94FC0202}"/>
              </a:ext>
            </a:extLst>
          </p:cNvPr>
          <p:cNvSpPr txBox="1"/>
          <p:nvPr/>
        </p:nvSpPr>
        <p:spPr>
          <a:xfrm>
            <a:off x="2578608" y="26700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D04C79-DA11-5F6E-F980-B368A934C2FD}"/>
              </a:ext>
            </a:extLst>
          </p:cNvPr>
          <p:cNvSpPr txBox="1"/>
          <p:nvPr/>
        </p:nvSpPr>
        <p:spPr>
          <a:xfrm>
            <a:off x="754380" y="2212848"/>
            <a:ext cx="2180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1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AREA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location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5" y="3302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345440"/>
            <a:ext cx="105460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                      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CLOSE TO THE PULSE. CLOSER STILL TO THE CALM. 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76200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to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 From the Ordinary.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688080"/>
            <a:ext cx="45720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1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Away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It 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277063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3447288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77647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International Airport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30242" y="266700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58258" y="277063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85690" y="3447288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377647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World Central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36357" y="260604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64957" y="277063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92389" y="3447288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7990636" y="3776472"/>
            <a:ext cx="3149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Hills Mall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51560" y="473659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5413248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74243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 Jumeirah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429658" y="457200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658258" y="473659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685690" y="5413248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4658258" y="574243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Burj Al Arab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36357" y="4572000"/>
            <a:ext cx="3332378" cy="1691640"/>
          </a:xfrm>
          <a:prstGeom prst="rect">
            <a:avLst/>
          </a:prstGeom>
          <a:solidFill>
            <a:srgbClr val="1E171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264957" y="4736592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219339" y="5422392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C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FROM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8264957" y="574243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E11 / Sheikh Zayed Road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C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neighborhood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NEIGHBORHOOD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22960" y="118872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Elevated by Experiences.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852928"/>
            <a:ext cx="576072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Me’aisem is a community that offers what daily life requires — and what makes it richer. A direct connection to Al Fay Road ensures effortless movement to the rest of Dubai. Within walking distance, City Centre Me’aisem anchors daily life — groceries, cafés, cinema, salons, pharmacy — while Mediclinic Me’aisem covers everyday healthcare.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074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5961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kern="0" spc="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 ·  CITY CENTRE ME'AISEM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807208" y="5074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807208" y="55961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kern="0" spc="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 ·  2 LAKES + JOGGING TRACK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91456" y="5074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816856" y="5577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kern="0" spc="50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  ·  10 PREMIUM SCHOOLS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62B35E-3A18-B6D7-B523-41BA398C7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48" y="0"/>
            <a:ext cx="10280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37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design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53212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5D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532120" y="1188720"/>
            <a:ext cx="58366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Thoughtful Design.</a:t>
            </a:r>
            <a:endParaRPr lang="en-US" sz="2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3E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Holistic Living.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532120" y="2560320"/>
            <a:ext cx="58366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en-US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Nirvana Residences I, every residence is shaped by three principles: continuity, tactile depth, and composure. Spaces flow with a seamless rhythm — each room connected to the next in one coherent experience.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32120" y="3977640"/>
            <a:ext cx="58366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4000"/>
              </a:lnSpc>
              <a:buNone/>
            </a:pPr>
            <a:r>
              <a:rPr lang="en-US" dirty="0">
                <a:solidFill>
                  <a:srgbClr val="6E6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are chosen for their honesty, their texture, their interplay of light and shadow. Finishes carry the signature attention to detail that Meraki Developers is known for — precision that you feel before you notice.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532120" y="5623560"/>
            <a:ext cx="1280160" cy="384048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532120" y="5623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50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949440" y="5623560"/>
            <a:ext cx="1527048" cy="384048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949440" y="56235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50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DEPTH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8613648" y="5623560"/>
            <a:ext cx="1197864" cy="384048"/>
          </a:xfrm>
          <a:prstGeom prst="rect">
            <a:avLst/>
          </a:prstGeom>
          <a:solidFill>
            <a:srgbClr val="E6D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613648" y="562356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50" dirty="0">
                <a:solidFill>
                  <a:srgbClr val="3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E61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BDA4C3-BD16-E6FD-188D-16E279BEB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8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16F3B-4465-9533-7D83-54AD7A6B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457915-E455-0585-4B00-912F6FB3DB89}"/>
              </a:ext>
            </a:extLst>
          </p:cNvPr>
          <p:cNvSpPr txBox="1"/>
          <p:nvPr/>
        </p:nvSpPr>
        <p:spPr>
          <a:xfrm>
            <a:off x="594360" y="384048"/>
            <a:ext cx="287213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4"/>
                </a:solidFill>
              </a:defRPr>
            </a:pPr>
            <a:r>
              <a:rPr dirty="0"/>
              <a:t> </a:t>
            </a:r>
            <a:r>
              <a:rPr lang="en-US" i="1" u="sng" dirty="0"/>
              <a:t>CONFIGURATIONS</a:t>
            </a:r>
            <a:endParaRPr sz="3200" i="1" u="sng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54DF557-BEA5-E691-7939-69C7B1E325AA}"/>
              </a:ext>
            </a:extLst>
          </p:cNvPr>
          <p:cNvSpPr/>
          <p:nvPr/>
        </p:nvSpPr>
        <p:spPr>
          <a:xfrm>
            <a:off x="685800" y="1600200"/>
            <a:ext cx="3383280" cy="3200400"/>
          </a:xfrm>
          <a:prstGeom prst="roundRect">
            <a:avLst/>
          </a:prstGeom>
          <a:solidFill>
            <a:srgbClr val="F6F6F3"/>
          </a:solidFill>
          <a:ln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3873D-0548-3335-578F-FDF55EA07D7D}"/>
              </a:ext>
            </a:extLst>
          </p:cNvPr>
          <p:cNvSpPr txBox="1"/>
          <p:nvPr/>
        </p:nvSpPr>
        <p:spPr>
          <a:xfrm>
            <a:off x="914400" y="1874519"/>
            <a:ext cx="2926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700" b="1">
                <a:solidFill>
                  <a:srgbClr val="182334"/>
                </a:solidFill>
              </a:defRPr>
            </a:pPr>
            <a:r>
              <a:t>STUDIO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182334"/>
                </a:solidFill>
              </a:defRPr>
            </a:pPr>
            <a:r>
              <a:t>~AED 781K | ~A$297K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~447 sq ft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Pool view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80A048-BA5B-1CD5-D15A-67A1726BE2F9}"/>
              </a:ext>
            </a:extLst>
          </p:cNvPr>
          <p:cNvSpPr/>
          <p:nvPr/>
        </p:nvSpPr>
        <p:spPr>
          <a:xfrm>
            <a:off x="4480560" y="1600200"/>
            <a:ext cx="3383280" cy="3200400"/>
          </a:xfrm>
          <a:prstGeom prst="roundRect">
            <a:avLst/>
          </a:prstGeom>
          <a:solidFill>
            <a:srgbClr val="F6F6F3"/>
          </a:solidFill>
          <a:ln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E12A7-1237-0278-CD19-2A807F5C5557}"/>
              </a:ext>
            </a:extLst>
          </p:cNvPr>
          <p:cNvSpPr txBox="1"/>
          <p:nvPr/>
        </p:nvSpPr>
        <p:spPr>
          <a:xfrm>
            <a:off x="4709160" y="1874519"/>
            <a:ext cx="2926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700" b="1">
                <a:solidFill>
                  <a:srgbClr val="182334"/>
                </a:solidFill>
              </a:defRPr>
            </a:pPr>
            <a:r>
              <a:t>1 BEDROOM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182334"/>
                </a:solidFill>
              </a:defRPr>
            </a:pPr>
            <a:r>
              <a:t>~AED 1.23M+ | ~A$468K+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~747 sq ft+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Various views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1FD6262-FAE2-5C01-D881-D4A909BF0FE9}"/>
              </a:ext>
            </a:extLst>
          </p:cNvPr>
          <p:cNvSpPr/>
          <p:nvPr/>
        </p:nvSpPr>
        <p:spPr>
          <a:xfrm>
            <a:off x="8275320" y="1600200"/>
            <a:ext cx="3383280" cy="3200400"/>
          </a:xfrm>
          <a:prstGeom prst="roundRect">
            <a:avLst/>
          </a:prstGeom>
          <a:solidFill>
            <a:srgbClr val="F6F6F3"/>
          </a:solidFill>
          <a:ln>
            <a:solidFill>
              <a:srgbClr val="DC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FD1F0F-DA20-41EE-B19E-6650F986C6A3}"/>
              </a:ext>
            </a:extLst>
          </p:cNvPr>
          <p:cNvSpPr txBox="1"/>
          <p:nvPr/>
        </p:nvSpPr>
        <p:spPr>
          <a:xfrm>
            <a:off x="8503920" y="1874519"/>
            <a:ext cx="2926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700" b="1">
                <a:solidFill>
                  <a:srgbClr val="182334"/>
                </a:solidFill>
              </a:defRPr>
            </a:pPr>
            <a:r>
              <a:t>2 BEDROOM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182334"/>
                </a:solidFill>
              </a:defRPr>
            </a:pPr>
            <a:r>
              <a:t>~AED 1.80M+ | ~A$684K+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~1,243 sq ft+</a:t>
            </a:r>
          </a:p>
          <a:p>
            <a:pPr algn="ctr">
              <a:spcAft>
                <a:spcPts val="1000"/>
              </a:spcAft>
              <a:defRPr sz="1600" b="0">
                <a:solidFill>
                  <a:srgbClr val="182334"/>
                </a:solidFill>
              </a:defRPr>
            </a:pPr>
            <a:r>
              <a:t>City / pool / other views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3D7C5-48C5-F129-81F3-6A6227827DA1}"/>
              </a:ext>
            </a:extLst>
          </p:cNvPr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B08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9EBA9B-1597-BB79-5042-70D69F77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5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38A896-9222-F8D4-58D3-6D86850D1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44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4E59F-6D53-C000-C83F-7EA17C69E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17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593</Words>
  <Application>Microsoft Office PowerPoint</Application>
  <PresentationFormat>Widescreen</PresentationFormat>
  <Paragraphs>125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 Dhumal</cp:lastModifiedBy>
  <cp:revision>20</cp:revision>
  <dcterms:created xsi:type="dcterms:W3CDTF">2026-09-08T11:29:32Z</dcterms:created>
  <dcterms:modified xsi:type="dcterms:W3CDTF">2026-09-12T08:16:02Z</dcterms:modified>
</cp:coreProperties>
</file>